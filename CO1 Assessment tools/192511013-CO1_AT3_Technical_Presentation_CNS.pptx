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12480" y="731520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1115568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1499616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80" y="1883664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80" y="2267712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96528" y="731520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96528" y="1115568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96528" y="1499616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796528" y="1883664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796528" y="2267712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80576" y="731520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80576" y="1115568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80576" y="1499616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80576" y="1883664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80576" y="2267712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64624" y="731520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64624" y="1115568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64624" y="1499616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64624" y="1883664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64624" y="2267712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948672" y="731520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48672" y="1115568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948672" y="1499616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48672" y="1883664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48672" y="2267712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32719" y="731520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332719" y="1115568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19" y="1499616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32719" y="1883664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332719" y="2267712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716767" y="731520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716767" y="1115568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16767" y="1499616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716767" y="1883664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16767" y="2267712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100815" y="731520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100815" y="1115568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100815" y="1499616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00815" y="1883664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100815" y="2267712"/>
            <a:ext cx="50292" cy="50292"/>
          </a:xfrm>
          <a:prstGeom prst="ellipse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58200" y="1874519"/>
            <a:ext cx="2286000" cy="2423160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915400" y="2880360"/>
            <a:ext cx="1371600" cy="1051560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162288" y="2240280"/>
            <a:ext cx="868680" cy="868680"/>
          </a:xfrm>
          <a:prstGeom prst="roundRect">
            <a:avLst/>
          </a:prstGeom>
          <a:solidFill>
            <a:srgbClr val="0D1B34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345168" y="2468880"/>
            <a:ext cx="502920" cy="731520"/>
          </a:xfrm>
          <a:prstGeom prst="roundRect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528048" y="3218688"/>
            <a:ext cx="164592" cy="164592"/>
          </a:xfrm>
          <a:prstGeom prst="ellipse">
            <a:avLst/>
          </a:prstGeom>
          <a:solidFill>
            <a:srgbClr val="0D1B34"/>
          </a:solidFill>
          <a:ln>
            <a:solidFill>
              <a:srgbClr val="0D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573768" y="3346704"/>
            <a:ext cx="73152" cy="292608"/>
          </a:xfrm>
          <a:prstGeom prst="rect">
            <a:avLst/>
          </a:prstGeom>
          <a:solidFill>
            <a:srgbClr val="0D1B34"/>
          </a:solidFill>
          <a:ln>
            <a:solidFill>
              <a:srgbClr val="0D1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543800" y="1508760"/>
            <a:ext cx="594360" cy="594360"/>
          </a:xfrm>
          <a:prstGeom prst="roundRect">
            <a:avLst/>
          </a:prstGeom>
          <a:solidFill>
            <a:srgbClr val="152B4C"/>
          </a:solidFill>
          <a:ln>
            <a:solidFill>
              <a:srgbClr val="FFC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43800" y="1527048"/>
            <a:ext cx="59436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FC35A"/>
                </a:solidFill>
                <a:latin typeface="Aptos"/>
              </a:rPr>
              <a:t>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52760" y="1554480"/>
            <a:ext cx="594360" cy="594360"/>
          </a:xfrm>
          <a:prstGeom prst="roundRect">
            <a:avLst/>
          </a:prstGeom>
          <a:solidFill>
            <a:srgbClr val="152B4C"/>
          </a:solidFill>
          <a:ln>
            <a:solidFill>
              <a:srgbClr val="F67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52760" y="1572768"/>
            <a:ext cx="59436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67796"/>
                </a:solidFill>
                <a:latin typeface="Aptos"/>
              </a:rPr>
              <a:t>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4389120"/>
            <a:ext cx="594360" cy="594360"/>
          </a:xfrm>
          <a:prstGeom prst="roundRect">
            <a:avLst/>
          </a:prstGeom>
          <a:solidFill>
            <a:srgbClr val="152B4C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43800" y="4407407"/>
            <a:ext cx="59436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65DCE1"/>
                </a:solidFill>
                <a:latin typeface="Aptos"/>
              </a:rPr>
              <a:t>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652760" y="4434840"/>
            <a:ext cx="594360" cy="594360"/>
          </a:xfrm>
          <a:prstGeom prst="roundRect">
            <a:avLst/>
          </a:prstGeom>
          <a:solidFill>
            <a:srgbClr val="152B4C"/>
          </a:solidFill>
          <a:ln>
            <a:solidFill>
              <a:srgbClr val="5CD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52760" y="4453127"/>
            <a:ext cx="59436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5CD39E"/>
                </a:solidFill>
                <a:latin typeface="Aptos"/>
              </a:rPr>
              <a:t>#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94360"/>
            <a:ext cx="65836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1BBEB4"/>
                </a:solidFill>
                <a:latin typeface="Aptos"/>
              </a:rPr>
              <a:t>TECHNICAL PRESENTATION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1170432"/>
            <a:ext cx="7132320" cy="12344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SUBSTITUTION VS
TRANSPOSITION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" y="2542032"/>
            <a:ext cx="676656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300" b="0">
                <a:solidFill>
                  <a:srgbClr val="65DCE1"/>
                </a:solidFill>
                <a:latin typeface="Aptos"/>
              </a:rPr>
              <a:t>Which Provides Better Security?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9808" y="3310128"/>
            <a:ext cx="6080760" cy="27432"/>
          </a:xfrm>
          <a:prstGeom prst="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7240" y="3611880"/>
            <a:ext cx="19659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>
                <a:solidFill>
                  <a:srgbClr val="BECCDC"/>
                </a:solidFill>
                <a:latin typeface="Aptos"/>
              </a:rPr>
              <a:t>NAME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0" y="3611880"/>
            <a:ext cx="512064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YAMUNA 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4133088"/>
            <a:ext cx="19659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>
                <a:solidFill>
                  <a:srgbClr val="BECCDC"/>
                </a:solidFill>
                <a:latin typeface="Aptos"/>
              </a:rPr>
              <a:t>REGISTER NUMBER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0" y="4133088"/>
            <a:ext cx="512064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192511013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4654296"/>
            <a:ext cx="19659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>
                <a:solidFill>
                  <a:srgbClr val="BECCDC"/>
                </a:solidFill>
                <a:latin typeface="Aptos"/>
              </a:rPr>
              <a:t>COURSE CODE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4654296"/>
            <a:ext cx="512064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CSA5112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" y="5175504"/>
            <a:ext cx="196596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>
                <a:solidFill>
                  <a:srgbClr val="BECCDC"/>
                </a:solidFill>
                <a:latin typeface="Aptos"/>
              </a:rPr>
              <a:t>COURSE NAME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0" y="5175504"/>
            <a:ext cx="512064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CRYPTOGRAPHY AND NETWORK SECURITY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" y="6053328"/>
            <a:ext cx="6766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BECCDC"/>
                </a:solidFill>
                <a:latin typeface="Aptos"/>
              </a:rPr>
              <a:t>Classical ciphers • examples • security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1. Introduction to Cryptography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6070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5DCE1"/>
                </a:solidFill>
                <a:latin typeface="Aptos"/>
              </a:rPr>
              <a:t>The basic idea behind protecting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50292"/>
          </a:xfrm>
          <a:prstGeom prst="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BECCDC"/>
                </a:solidFill>
                <a:latin typeface="Aptos"/>
              </a:rPr>
              <a:t>02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37376"/>
            <a:ext cx="5029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>
                <a:solidFill>
                  <a:srgbClr val="BECCDC"/>
                </a:solidFill>
                <a:latin typeface="Aptos"/>
              </a:rPr>
              <a:t>CRYPTOGRAPHY AND NETWORK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700784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554480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Cryptography protects information from people who should not read it.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96896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450592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Encryption changes readable data into an unreadable form.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93008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346704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Plaintext is the original message; ciphertext is the encrypted message.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389120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242816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A key helps control how a message is encrypted and decrypted.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852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5138928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Substitution and transposition are two classical encryption techniques.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874519"/>
            <a:ext cx="1325880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1892807"/>
            <a:ext cx="1234439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65DCE1"/>
                </a:solidFill>
                <a:latin typeface="Aptos"/>
              </a:rPr>
              <a:t>PLAINTEXT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6528" y="2203704"/>
            <a:ext cx="512064" cy="0"/>
          </a:xfrm>
          <a:prstGeom prst="line">
            <a:avLst/>
          </a:prstGeom>
          <a:ln w="25400">
            <a:solidFill>
              <a:srgbClr val="1B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08592" y="1874519"/>
            <a:ext cx="1234440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54312" y="1892807"/>
            <a:ext cx="11430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0D1B34"/>
                </a:solidFill>
                <a:latin typeface="Aptos"/>
              </a:rPr>
              <a:t>ENCRYPT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61320" y="2203704"/>
            <a:ext cx="365760" cy="0"/>
          </a:xfrm>
          <a:prstGeom prst="line">
            <a:avLst/>
          </a:prstGeom>
          <a:ln w="25400">
            <a:solidFill>
              <a:srgbClr val="1B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927080" y="1874519"/>
            <a:ext cx="822960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0" y="1892807"/>
            <a:ext cx="73152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852928"/>
            <a:ext cx="41148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300" b="1">
                <a:solidFill>
                  <a:srgbClr val="FFC35A"/>
                </a:solidFill>
                <a:latin typeface="Aptos"/>
              </a:rPr>
              <a:t>HELLO  →  KHOOR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429000"/>
            <a:ext cx="384048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0">
                <a:solidFill>
                  <a:srgbClr val="BECCDC"/>
                </a:solidFill>
                <a:latin typeface="Aptos"/>
              </a:rPr>
              <a:t>A simple Caesar cipher example
(shift every letter by 3)</a:t>
            </a:r>
          </a:p>
        </p:txBody>
      </p:sp>
      <p:sp>
        <p:nvSpPr>
          <p:cNvPr id="27" name="Oval 26"/>
          <p:cNvSpPr/>
          <p:nvPr/>
        </p:nvSpPr>
        <p:spPr>
          <a:xfrm>
            <a:off x="8458200" y="4572000"/>
            <a:ext cx="1143000" cy="1143000"/>
          </a:xfrm>
          <a:prstGeom prst="ellipse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4617720"/>
            <a:ext cx="114300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>
                <a:solidFill>
                  <a:srgbClr val="F8FAFC"/>
                </a:solidFill>
                <a:latin typeface="Aptos"/>
              </a:rPr>
              <a:t>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2. Substitution Cipher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6070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5DCE1"/>
                </a:solidFill>
                <a:latin typeface="Aptos"/>
              </a:rPr>
              <a:t>Replace characters with other characters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50292"/>
          </a:xfrm>
          <a:prstGeom prst="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BECCDC"/>
                </a:solidFill>
                <a:latin typeface="Aptos"/>
              </a:rPr>
              <a:t>03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37376"/>
            <a:ext cx="5029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>
                <a:solidFill>
                  <a:srgbClr val="BECCDC"/>
                </a:solidFill>
                <a:latin typeface="Aptos"/>
              </a:rPr>
              <a:t>CRYPTOGRAPHY AND NETWORK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700784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554480"/>
            <a:ext cx="573328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Each letter or symbol is replaced by another character.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96896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450592"/>
            <a:ext cx="573328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The character positions usually stay in the same order.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93008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346704"/>
            <a:ext cx="573328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Caesar cipher is a well-known substitution method.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389120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242816"/>
            <a:ext cx="573328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Example: HELLO becomes KHOOR when each letter shifts by 3.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852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5138928"/>
            <a:ext cx="573328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It is easy to understand, but simple versions are not secure today.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783080"/>
            <a:ext cx="3383280" cy="502920"/>
          </a:xfrm>
          <a:prstGeom prst="roundRect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1801368"/>
            <a:ext cx="3291840" cy="4663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65DCE1"/>
                </a:solidFill>
                <a:latin typeface="Aptos"/>
              </a:rPr>
              <a:t>CAESAR CIPHER • SHIFT +3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651760"/>
            <a:ext cx="566928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267919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3649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1BBEB4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730752"/>
            <a:ext cx="566928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3758184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0D1B34"/>
                </a:solidFill>
                <a:latin typeface="Aptos"/>
              </a:rPr>
              <a:t>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2651760"/>
            <a:ext cx="566928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6448" y="267919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33649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1BBEB4"/>
                </a:solidFill>
                <a:latin typeface="Aptos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3730752"/>
            <a:ext cx="566928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56448" y="3758184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0D1B34"/>
                </a:solidFill>
                <a:latin typeface="Aptos"/>
              </a:rPr>
              <a:t>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0536" y="2651760"/>
            <a:ext cx="566928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0536" y="267919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0536" y="33649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1BBEB4"/>
                </a:solidFill>
                <a:latin typeface="Aptos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0536" y="3730752"/>
            <a:ext cx="566928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0536" y="3758184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0D1B34"/>
                </a:solidFill>
                <a:latin typeface="Aptos"/>
              </a:rPr>
              <a:t>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64624" y="2651760"/>
            <a:ext cx="566928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64624" y="267919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64624" y="33649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1BBEB4"/>
                </a:solidFill>
                <a:latin typeface="Aptos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64624" y="3730752"/>
            <a:ext cx="566928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64624" y="3758184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0D1B34"/>
                </a:solidFill>
                <a:latin typeface="Aptos"/>
              </a:rPr>
              <a:t>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68712" y="2651760"/>
            <a:ext cx="566928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68712" y="267919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68712" y="3364992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1BBEB4"/>
                </a:solidFill>
                <a:latin typeface="Aptos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68712" y="3730752"/>
            <a:ext cx="566928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68712" y="3758184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0D1B34"/>
                </a:solidFill>
                <a:latin typeface="Aptos"/>
              </a:rPr>
              <a:t>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754880"/>
            <a:ext cx="3657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FFC35A"/>
                </a:solidFill>
                <a:latin typeface="Aptos"/>
              </a:rPr>
              <a:t>Letters change; order stays.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3. Transposition Cipher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6070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5DCE1"/>
                </a:solidFill>
                <a:latin typeface="Aptos"/>
              </a:rPr>
              <a:t>Keep characters, change their positions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50292"/>
          </a:xfrm>
          <a:prstGeom prst="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BECCDC"/>
                </a:solidFill>
                <a:latin typeface="Aptos"/>
              </a:rPr>
              <a:t>04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37376"/>
            <a:ext cx="5029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>
                <a:solidFill>
                  <a:srgbClr val="BECCDC"/>
                </a:solidFill>
                <a:latin typeface="Aptos"/>
              </a:rPr>
              <a:t>CRYPTOGRAPHY AND NETWORK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700784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554480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A transposition cipher rearranges the order of the original characters.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96896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450592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The letters themselves do not change.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93008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346704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A key or pattern decides the new positions.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389120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242816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Example: TEAM can become META after rearranging the letters.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852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5138928"/>
            <a:ext cx="568756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It can be solved if the rearrangement pattern is weak or predictable.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828800"/>
            <a:ext cx="3429000" cy="502920"/>
          </a:xfrm>
          <a:prstGeom prst="roundRect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1847088"/>
            <a:ext cx="3337560" cy="4663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65DCE1"/>
                </a:solidFill>
                <a:latin typeface="Aptos"/>
              </a:rPr>
              <a:t>REARRANGING THE SAME LETTERS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2651760"/>
            <a:ext cx="566928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267919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651760"/>
            <a:ext cx="566928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267919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2651760"/>
            <a:ext cx="566928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267919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2651760"/>
            <a:ext cx="566928" cy="658368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38360" y="267919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429000"/>
            <a:ext cx="365760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FFC35A"/>
                </a:solidFill>
                <a:latin typeface="Aptos"/>
              </a:rPr>
              <a:t>↓  Change positions  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977639"/>
            <a:ext cx="566928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400507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0D1B34"/>
                </a:solidFill>
                <a:latin typeface="Aptos"/>
              </a:rPr>
              <a:t>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977639"/>
            <a:ext cx="566928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20" y="400507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0D1B34"/>
                </a:solidFill>
                <a:latin typeface="Aptos"/>
              </a:rPr>
              <a:t>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3977639"/>
            <a:ext cx="566928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06840" y="400507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0D1B34"/>
                </a:solidFill>
                <a:latin typeface="Aptos"/>
              </a:rPr>
              <a:t>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3977639"/>
            <a:ext cx="566928" cy="658368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4005072"/>
            <a:ext cx="566928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0D1B34"/>
                </a:solidFill>
                <a:latin typeface="Aptos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98348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65DCE1"/>
                </a:solidFill>
                <a:latin typeface="Aptos"/>
              </a:rPr>
              <a:t>Same letters • different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4. Key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6070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5DCE1"/>
                </a:solidFill>
                <a:latin typeface="Aptos"/>
              </a:rPr>
              <a:t>A side-by-side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50292"/>
          </a:xfrm>
          <a:prstGeom prst="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BECCDC"/>
                </a:solidFill>
                <a:latin typeface="Aptos"/>
              </a:rPr>
              <a:t>05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37376"/>
            <a:ext cx="5029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>
                <a:solidFill>
                  <a:srgbClr val="BECCDC"/>
                </a:solidFill>
                <a:latin typeface="Aptos"/>
              </a:rPr>
              <a:t>CRYPTOGRAPHY AND NETWORK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120640" cy="4389120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120640" cy="4389120"/>
          </a:xfrm>
          <a:prstGeom prst="roundRect">
            <a:avLst/>
          </a:prstGeom>
          <a:solidFill>
            <a:srgbClr val="152B4C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45720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1BBEB4"/>
                </a:solidFill>
                <a:latin typeface="Aptos"/>
              </a:rPr>
              <a:t>SUBSTITUTION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10512"/>
            <a:ext cx="45720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>
                <a:solidFill>
                  <a:srgbClr val="65DCE1"/>
                </a:solidFill>
                <a:latin typeface="Aptos"/>
              </a:rPr>
              <a:t>TRANSPOSITION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2487168"/>
            <a:ext cx="100584" cy="100584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2395728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Replaces characters with other characters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108960"/>
            <a:ext cx="100584" cy="100584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3017520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Character identity changes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730752"/>
            <a:ext cx="100584" cy="100584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3639312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Original order is usually retained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4352544"/>
            <a:ext cx="100584" cy="100584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4261104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Example: Caesar cipher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974336"/>
            <a:ext cx="100584" cy="100584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4882896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Can leak letter-frequency patterns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2487168"/>
            <a:ext cx="100584" cy="100584"/>
          </a:xfrm>
          <a:prstGeom prst="ellipse">
            <a:avLst/>
          </a:prstGeom>
          <a:solidFill>
            <a:srgbClr val="65DCE1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2395728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Rearranges the character positions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108960"/>
            <a:ext cx="100584" cy="100584"/>
          </a:xfrm>
          <a:prstGeom prst="ellipse">
            <a:avLst/>
          </a:prstGeom>
          <a:solidFill>
            <a:srgbClr val="65DCE1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3017520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Original characters remain the same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730752"/>
            <a:ext cx="100584" cy="100584"/>
          </a:xfrm>
          <a:prstGeom prst="ellipse">
            <a:avLst/>
          </a:prstGeom>
          <a:solidFill>
            <a:srgbClr val="65DCE1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639312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Order changes according to a key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352544"/>
            <a:ext cx="100584" cy="100584"/>
          </a:xfrm>
          <a:prstGeom prst="ellipse">
            <a:avLst/>
          </a:prstGeom>
          <a:solidFill>
            <a:srgbClr val="65DCE1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4261104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Example: Rail Fence cipher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974336"/>
            <a:ext cx="100584" cy="100584"/>
          </a:xfrm>
          <a:prstGeom prst="ellipse">
            <a:avLst/>
          </a:prstGeom>
          <a:solidFill>
            <a:srgbClr val="65DCE1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12280" y="4882896"/>
            <a:ext cx="416052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Letter frequencies remain unchanged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5. Security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6070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5DCE1"/>
                </a:solidFill>
                <a:latin typeface="Aptos"/>
              </a:rPr>
              <a:t>How attackers may study classical ciphers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50292"/>
          </a:xfrm>
          <a:prstGeom prst="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BECCDC"/>
                </a:solidFill>
                <a:latin typeface="Aptos"/>
              </a:rPr>
              <a:t>06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37376"/>
            <a:ext cx="5029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>
                <a:solidFill>
                  <a:srgbClr val="BECCDC"/>
                </a:solidFill>
                <a:latin typeface="Aptos"/>
              </a:rPr>
              <a:t>CRYPTOGRAPHY AND NETWORK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700784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554480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Frequency analysis checks how often letters appear in a message.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96896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450592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Simple substitution can preserve patterns linked to common letters.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93008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346704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Transposition preserves the original letter counts and frequencies.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389120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242816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Short messages, weak keys, and repeated patterns can make analysis easier.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852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5138928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Classical ciphers are useful for learning, not for protecting sensitive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783080"/>
            <a:ext cx="3200400" cy="502920"/>
          </a:xfrm>
          <a:prstGeom prst="roundRect">
            <a:avLst/>
          </a:prstGeom>
          <a:solidFill>
            <a:srgbClr val="152B4C"/>
          </a:solidFill>
          <a:ln>
            <a:solidFill>
              <a:srgbClr val="15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1801368"/>
            <a:ext cx="3108960" cy="4663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FFC35A"/>
                </a:solidFill>
                <a:latin typeface="Aptos"/>
              </a:rPr>
              <a:t>LETTER FREQUENCY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788920"/>
            <a:ext cx="384048" cy="1463040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4343400"/>
            <a:ext cx="38404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3108960"/>
            <a:ext cx="384048" cy="1143000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4343400"/>
            <a:ext cx="38404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337560"/>
            <a:ext cx="384048" cy="914400"/>
          </a:xfrm>
          <a:prstGeom prst="round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4343400"/>
            <a:ext cx="38404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3502152"/>
            <a:ext cx="384048" cy="749808"/>
          </a:xfrm>
          <a:prstGeom prst="roundRect">
            <a:avLst/>
          </a:prstGeom>
          <a:solidFill>
            <a:srgbClr val="FFC35A"/>
          </a:solidFill>
          <a:ln>
            <a:solidFill>
              <a:srgbClr val="FFC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38360" y="4343400"/>
            <a:ext cx="38404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3904488"/>
            <a:ext cx="384048" cy="347472"/>
          </a:xfrm>
          <a:prstGeom prst="roundRect">
            <a:avLst/>
          </a:prstGeom>
          <a:solidFill>
            <a:srgbClr val="FFC35A"/>
          </a:solidFill>
          <a:ln>
            <a:solidFill>
              <a:srgbClr val="FFC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78440" y="4343400"/>
            <a:ext cx="38404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846320"/>
            <a:ext cx="34747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0">
                <a:solidFill>
                  <a:srgbClr val="BECCDC"/>
                </a:solidFill>
                <a:latin typeface="Aptos"/>
              </a:rPr>
              <a:t>Repeated patterns can reveal clues.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6. Which Provides Better Security?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6070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5DCE1"/>
                </a:solidFill>
                <a:latin typeface="Aptos"/>
              </a:rPr>
              <a:t>The answer depends on the design and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50292"/>
          </a:xfrm>
          <a:prstGeom prst="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BECCDC"/>
                </a:solidFill>
                <a:latin typeface="Aptos"/>
              </a:rPr>
              <a:t>07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37376"/>
            <a:ext cx="5029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>
                <a:solidFill>
                  <a:srgbClr val="BECCDC"/>
                </a:solidFill>
                <a:latin typeface="Aptos"/>
              </a:rPr>
              <a:t>CRYPTOGRAPHY AND NETWORK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700784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554480"/>
            <a:ext cx="582472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Neither basic substitution nor basic transposition is strong enough alone.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96896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450592"/>
            <a:ext cx="582472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Substitution hides character identity but may expose frequency patterns.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93008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346704"/>
            <a:ext cx="582472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Transposition hides character order but keeps the same letter frequencies.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389120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242816"/>
            <a:ext cx="582472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Combining transformations can improve scrambling, but does not automatically make a cipher secure.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852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5138928"/>
            <a:ext cx="582472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For real systems, use well-reviewed modern cryptographic algorithms.</a:t>
            </a:r>
          </a:p>
        </p:txBody>
      </p:sp>
      <p:sp>
        <p:nvSpPr>
          <p:cNvPr id="17" name="Oval 16"/>
          <p:cNvSpPr/>
          <p:nvPr/>
        </p:nvSpPr>
        <p:spPr>
          <a:xfrm>
            <a:off x="7818120" y="2011680"/>
            <a:ext cx="1051560" cy="1051560"/>
          </a:xfrm>
          <a:prstGeom prst="ellipse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2029968"/>
            <a:ext cx="105156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000" b="1">
                <a:solidFill>
                  <a:srgbClr val="1BBEB4"/>
                </a:solidFill>
                <a:latin typeface="Aptos"/>
              </a:rPr>
              <a:t>A→K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2011680"/>
            <a:ext cx="1051560" cy="1051560"/>
          </a:xfrm>
          <a:prstGeom prst="ellipse">
            <a:avLst/>
          </a:prstGeom>
          <a:solidFill>
            <a:srgbClr val="152B4C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8360" y="2029968"/>
            <a:ext cx="1051560" cy="10058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65DCE1"/>
                </a:solidFill>
                <a:latin typeface="Aptos"/>
              </a:rPr>
              <a:t>TEAM
META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2542032"/>
            <a:ext cx="868680" cy="0"/>
          </a:xfrm>
          <a:prstGeom prst="line">
            <a:avLst/>
          </a:prstGeom>
          <a:ln w="38100">
            <a:solidFill>
              <a:srgbClr val="FFC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0" y="3474720"/>
            <a:ext cx="420624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FFC35A"/>
                </a:solidFill>
                <a:latin typeface="Aptos"/>
              </a:rPr>
              <a:t>No universal winner among simple ciphers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343400"/>
            <a:ext cx="393192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Aptos"/>
              </a:rPr>
              <a:t>Stronger security comes from modern algorithms,
strong keys, and correct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7. Modern Cryptography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6070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5DCE1"/>
                </a:solidFill>
                <a:latin typeface="Aptos"/>
              </a:rPr>
              <a:t>From classroom examples to real-world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50292"/>
          </a:xfrm>
          <a:prstGeom prst="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BECCDC"/>
                </a:solidFill>
                <a:latin typeface="Aptos"/>
              </a:rPr>
              <a:t>08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37376"/>
            <a:ext cx="5029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>
                <a:solidFill>
                  <a:srgbClr val="BECCDC"/>
                </a:solidFill>
                <a:latin typeface="Aptos"/>
              </a:rPr>
              <a:t>CRYPTOGRAPHY AND NETWORK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700784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554480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Modern cryptography protects online banking, messaging, files, and network traffic.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96896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450592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AES is a widely used symmetric encryption standard.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93008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346704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AES supports 128-bit blocks and 128-, 192-, or 256-bit keys.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389120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242816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Secure systems depend on strong keys and correct configuration, not just the algorithm name.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852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5138928"/>
            <a:ext cx="5870448" cy="85953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Classical ciphers are best used for demonstrations and learning the basics.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1874519"/>
            <a:ext cx="1417320" cy="1417320"/>
          </a:xfrm>
          <a:prstGeom prst="ellipse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938528"/>
            <a:ext cx="1417320" cy="12344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700" b="1">
                <a:solidFill>
                  <a:srgbClr val="1BBEB4"/>
                </a:solidFill>
                <a:latin typeface="Aptos"/>
              </a:rPr>
              <a:t>AES</a:t>
            </a:r>
          </a:p>
        </p:txBody>
      </p:sp>
      <p:sp>
        <p:nvSpPr>
          <p:cNvPr id="19" name="Oval 18"/>
          <p:cNvSpPr/>
          <p:nvPr/>
        </p:nvSpPr>
        <p:spPr>
          <a:xfrm>
            <a:off x="7543800" y="3886200"/>
            <a:ext cx="502920" cy="502920"/>
          </a:xfrm>
          <a:prstGeom prst="ellipse">
            <a:avLst/>
          </a:prstGeom>
          <a:solidFill>
            <a:srgbClr val="152B4C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43800" y="3913632"/>
            <a:ext cx="5029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65DCE1"/>
                </a:solidFill>
                <a:latin typeface="Aptos"/>
              </a:rPr>
              <a:t>•</a:t>
            </a:r>
          </a:p>
        </p:txBody>
      </p:sp>
      <p:sp>
        <p:nvSpPr>
          <p:cNvPr id="21" name="Oval 20"/>
          <p:cNvSpPr/>
          <p:nvPr/>
        </p:nvSpPr>
        <p:spPr>
          <a:xfrm>
            <a:off x="10012680" y="3886200"/>
            <a:ext cx="502920" cy="502920"/>
          </a:xfrm>
          <a:prstGeom prst="ellipse">
            <a:avLst/>
          </a:prstGeom>
          <a:solidFill>
            <a:srgbClr val="152B4C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12680" y="3913632"/>
            <a:ext cx="5029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65DCE1"/>
                </a:solidFill>
                <a:latin typeface="Aptos"/>
              </a:rPr>
              <a:t>•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4709160"/>
            <a:ext cx="502920" cy="502920"/>
          </a:xfrm>
          <a:prstGeom prst="ellipse">
            <a:avLst/>
          </a:prstGeom>
          <a:solidFill>
            <a:srgbClr val="152B4C"/>
          </a:solidFill>
          <a:ln>
            <a:solidFill>
              <a:srgbClr val="65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4736592"/>
            <a:ext cx="50292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500" b="1">
                <a:solidFill>
                  <a:srgbClr val="65DCE1"/>
                </a:solidFill>
                <a:latin typeface="Aptos"/>
              </a:rPr>
              <a:t>•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790688" y="3246120"/>
            <a:ext cx="1033272" cy="640080"/>
          </a:xfrm>
          <a:prstGeom prst="line">
            <a:avLst/>
          </a:prstGeom>
          <a:ln w="25400">
            <a:solidFill>
              <a:srgbClr val="65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55480" y="3246120"/>
            <a:ext cx="704088" cy="640080"/>
          </a:xfrm>
          <a:prstGeom prst="line">
            <a:avLst/>
          </a:prstGeom>
          <a:ln w="25400">
            <a:solidFill>
              <a:srgbClr val="65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034272" y="3291840"/>
            <a:ext cx="201168" cy="1417320"/>
          </a:xfrm>
          <a:prstGeom prst="line">
            <a:avLst/>
          </a:prstGeom>
          <a:ln w="25400">
            <a:solidFill>
              <a:srgbClr val="65D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0" y="5440680"/>
            <a:ext cx="438912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0">
                <a:solidFill>
                  <a:srgbClr val="BECCDC"/>
                </a:solidFill>
                <a:latin typeface="Aptos"/>
              </a:rPr>
              <a:t>Protecting data across digital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8. Conclusion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95528"/>
            <a:ext cx="1060704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5DCE1"/>
                </a:solidFill>
                <a:latin typeface="Aptos"/>
              </a:rPr>
              <a:t>Key takeaways and trusted 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0432"/>
            <a:ext cx="1051560" cy="50292"/>
          </a:xfrm>
          <a:prstGeom prst="rect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502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BECCDC"/>
                </a:solidFill>
                <a:latin typeface="Aptos"/>
              </a:rPr>
              <a:t>09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37376"/>
            <a:ext cx="5029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>
                <a:solidFill>
                  <a:srgbClr val="BECCDC"/>
                </a:solidFill>
                <a:latin typeface="Aptos"/>
              </a:rPr>
              <a:t>CRYPTOGRAPHY AND NETWORK 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6276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481328"/>
            <a:ext cx="5458968" cy="7635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Substitution changes the characters; transposition changes their positions.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277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281428"/>
            <a:ext cx="5458968" cy="7635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Both methods are important foundations of classical cryptography.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278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1" y="3081528"/>
            <a:ext cx="5458968" cy="7635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Both have weaknesses when used as simple standalone ciphers.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27932"/>
            <a:ext cx="109728" cy="109728"/>
          </a:xfrm>
          <a:prstGeom prst="ellipse">
            <a:avLst/>
          </a:prstGeom>
          <a:solidFill>
            <a:srgbClr val="1BBEB4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3881628"/>
            <a:ext cx="5458968" cy="7635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Modern encryption, such as AES, is more appropriate for protecting sensitive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554480"/>
            <a:ext cx="4526280" cy="4343400"/>
          </a:xfrm>
          <a:prstGeom prst="roundRect">
            <a:avLst/>
          </a:prstGeom>
          <a:solidFill>
            <a:srgbClr val="152B4C"/>
          </a:solidFill>
          <a:ln>
            <a:solidFill>
              <a:srgbClr val="1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1783080"/>
            <a:ext cx="38404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1BBEB4"/>
                </a:solidFill>
                <a:latin typeface="Aptos"/>
              </a:rPr>
              <a:t>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395728"/>
            <a:ext cx="379476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1. William Stallings, Cryptography and Network Security: Principles and Practice.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3236976"/>
            <a:ext cx="379476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2. NIST, Advanced Encryption Standard (AES), FIPS 197.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078224"/>
            <a:ext cx="379476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3. Rutgers University, Foundations and Classical Ciphers lecture notes.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53035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600" b="1">
                <a:solidFill>
                  <a:srgbClr val="FFC35A"/>
                </a:solidFill>
                <a:latin typeface="Apto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42432"/>
            <a:ext cx="530352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0">
                <a:solidFill>
                  <a:srgbClr val="65DCE1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765</Words>
  <Application>Microsoft Office PowerPoint</Application>
  <PresentationFormat>Widescreen</PresentationFormat>
  <Paragraphs>150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Yamuna</dc:creator>
  <cp:keywords/>
  <dc:description>generated using python-pptx</dc:description>
  <cp:lastModifiedBy>918825723587</cp:lastModifiedBy>
  <cp:revision>1</cp:revision>
  <dcterms:created xsi:type="dcterms:W3CDTF">2013-01-27T09:14:16Z</dcterms:created>
  <dcterms:modified xsi:type="dcterms:W3CDTF">2026-10-12T18:05:58Z</dcterms:modified>
  <cp:category/>
</cp:coreProperties>
</file>